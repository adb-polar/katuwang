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svg" ContentType="image/svg"/>
  <Override PartName="/ppt/media/image4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D7A6854-1A7B-485F-B3DD-8AE56795006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Speaker: Member 1 (~1 min total for slides 1–2).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Open: state the system name (Katuwang, Tagalog for 'helper'/'partner'), that this is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finalized System Design Document required by Module 01, and that the deck maps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1:1 to the module's suggested outline. Fill in the real group number and member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names in the Group Identification table before presenting. Keep this to ~15 seconds.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A82626E-D920-40DF-BB2A-D96AF1D272E0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Speaker: Member 1.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Recap the problem in plain terms — do not re-defend the whole Capstone 1 proposal,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just enough that the panel recommendations on the next slide make sense. Mention the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RA 10173 double-blind anonymity constraint now because it recurs in the security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justification later. Note the deliberate divergence from the thesis: 3 roles, not 4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(see docs/reference/decisions.md).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693D773-99E4-40E1-AABA-47AC6C615B29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Speaker: Member 1 → hand off to Member 2.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Rubric Criterion 2 (Incorporation of Panel Recommendations, 25 pts) is graded 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whether EVERY recommendation is clearly and specifically addressed. State each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recommendation verbatim from the panel sheet. R1 is confirmed from our written module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answers. R2/R3 are placeholders — fill them from the real sheet; if the panel gave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only the certification recommendation, remove R2/R3 and say "the panel gave one formal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recommendation" so nothing looks unaddressed.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Speaker: Member 2 (~2 min for slides 4–6).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Name the pattern: MODULAR MONOLITH — one deployable Next.js app with clearly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separated internal modules (auth, learner, tutor, admin, assessment, notifications,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analytics). Walk the request path left to right. Call out src/proxy.ts as the single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RBAC choke point and the anonymity layer as a first-class architectural component,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 an afterthought. If your panel's architecture recommendation (R2) was about an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unspecified component or a scale-questioned choice, point to exactly where on this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diagram it is now resolved.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1847995-AF6E-4044-813E-61A40B751AA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Speaker: Member 2.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Rubric Criterion 3 wants the justification specific, not generic. The "why this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pattern" argument has three named alternatives rejected for concrete reasons. The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responsibility table is the module's requirement of "a one-sentence responsibility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statement for every component" — read two or three, don't recite the whole table.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6565988-5A59-4B90-BC50-1C45F40944FF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Speaker: Member 2 → hand off to Member 3.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Don't read the table aloud row by row. Say the shape of it: one language end to end,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one framework spanning UI and API, one ORM owning all DB access, Zod on every input.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module explicitly says to name tool *types* not product names during Q&amp;A.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2401C05-4E18-4A3D-BDA4-5A83622FC62A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Speaker: Member 3 (~2 min for slides 7–8).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is the schema change that answers panel recommendation R1. Before: a single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"is a tutor" flag. After: the TopicCertification entity — one row per (tutor, subject,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topic) with an explicit status lifecycle and audit fields (requestedAt, reviewedAt,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certifiedAt, reviewNote). The dashed line to Subject/Topic is a validation dependency,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 a DB foreign key — subject/topic are denormalised slug strings (see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decisions.md, "Subjects &amp; topics: enum → admin-editable tables"). Full 30-entity ERD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is in docs/erd.md and the appendix; this slide is deliberately trimmed for legibility.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9F9D4BD-20FD-4959-933B-2D05FC16009D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Speaker: Member 4 (~2 min for slides 10–11).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context diagram is the whole system as one process with only its boundary and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three external entities (the three roles). Name the main data flows in and out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 each entity — keep it to one sentence each.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19A4A9E-222A-46F3-9E5B-31FBB226CFFB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Speaker: Member 4 → hand off to Member 5.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Walk through subprocess 4.0 Tutor Certification in detail (the module says pick one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subprocess and go deep): tutor requests certification for a topic → row written to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TopicCertifications as PENDING → tutor passes the qualifying quiz in 5.0 (writes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AssessmentAttempts) → admin reviews in 6.0 → status set to CERTIFIED (certifiedAt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stamped) or REJECTED (reviewNote written) → 2.0 now lets that tutor open a class for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topic. Then state the traceability cross-check explicitly — reviewers look for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exactly this.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2017FA9-3D47-43E0-96C5-67A378E8626A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D4AFE84-0D6E-45A4-84CC-D31C126DD61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200" cy="63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200" cy="395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640" cy="63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640" cy="395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7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8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A0866B7-8064-4B2C-923A-3F142F536C9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FFAB07B-81BA-4679-AFBF-8C4072B7626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902E11D-7A1E-449F-9120-E084FB14ADE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080" cy="116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Master title style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560" cy="585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080" cy="469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2CC5579-A7FE-4962-B154-E3437519238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320" cy="56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Master title style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320" cy="80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5BD4B5D-B8E4-4CD4-8370-82AF4B14796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1108B4A-6BCF-4113-AAC6-637407AC5FD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3AA1EFB-2E9F-4652-B02E-AB511556B9B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320" cy="585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it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840" cy="585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E0F5BA5-0BAD-443E-A4E5-6D48136FA46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2D630EB-A222-436A-9B73-3433CA4209A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320" cy="136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3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6F80254-4212-460B-B619-155359941E2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1"/>
          <p:cNvSpPr/>
          <p:nvPr/>
        </p:nvSpPr>
        <p:spPr>
          <a:xfrm>
            <a:off x="0" y="0"/>
            <a:ext cx="12190680" cy="6856920"/>
          </a:xfrm>
          <a:prstGeom prst="rect">
            <a:avLst/>
          </a:prstGeom>
          <a:solidFill>
            <a:srgbClr val="1b1b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Rectangle 2"/>
          <p:cNvSpPr/>
          <p:nvPr/>
        </p:nvSpPr>
        <p:spPr>
          <a:xfrm>
            <a:off x="0" y="2468880"/>
            <a:ext cx="12190680" cy="49680"/>
          </a:xfrm>
          <a:prstGeom prst="rect">
            <a:avLst/>
          </a:prstGeom>
          <a:solidFill>
            <a:srgbClr val="e88c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3"/>
          <p:cNvSpPr/>
          <p:nvPr/>
        </p:nvSpPr>
        <p:spPr>
          <a:xfrm>
            <a:off x="822960" y="1005840"/>
            <a:ext cx="10514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9fc0ff"/>
                </a:solidFill>
                <a:effectLst/>
                <a:uFillTx/>
                <a:latin typeface="Calibri"/>
              </a:rPr>
              <a:t>LEARNING MODULE 01  ·  SYSTEM DESIGN REFINEMENT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4"/>
          <p:cNvSpPr/>
          <p:nvPr/>
        </p:nvSpPr>
        <p:spPr>
          <a:xfrm>
            <a:off x="822960" y="1417320"/>
            <a:ext cx="10697400" cy="12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Katuwang — Finalized System Design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5"/>
          <p:cNvSpPr/>
          <p:nvPr/>
        </p:nvSpPr>
        <p:spPr>
          <a:xfrm>
            <a:off x="822960" y="2743200"/>
            <a:ext cx="1069740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700" strike="noStrike" u="none">
                <a:solidFill>
                  <a:srgbClr val="c9ced6"/>
                </a:solidFill>
                <a:effectLst/>
                <a:uFillTx/>
                <a:latin typeface="Calibri"/>
              </a:rPr>
              <a:t>A web-based peer tutoring management platform for Taysan Resettlement Integrated School (Grades 7–12)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5b5b66"/>
                </a:solidFill>
                <a:effectLst/>
                <a:uFillTx/>
                <a:latin typeface="Calibri"/>
              </a:rPr>
              <a:t>Finalized architecture · database schema (ERD) · process &amp; data-flow diagrams · UI/UX refinements · four-part design justification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6"/>
          <p:cNvSpPr/>
          <p:nvPr/>
        </p:nvSpPr>
        <p:spPr>
          <a:xfrm>
            <a:off x="822960" y="5669280"/>
            <a:ext cx="10697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5b5b66"/>
                </a:solidFill>
                <a:effectLst/>
                <a:uFillTx/>
                <a:latin typeface="Calibri"/>
              </a:rPr>
              <a:t>Katuwang — [John Airo Abion] · [Noriel Harold Malate] · [Jerome Lorejo] · [Rico Miguel Cadag] · [Alejandro Beato]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1"/>
          <p:cNvSpPr/>
          <p:nvPr/>
        </p:nvSpPr>
        <p:spPr>
          <a:xfrm>
            <a:off x="0" y="0"/>
            <a:ext cx="12190680" cy="127080"/>
          </a:xfrm>
          <a:prstGeom prst="rect">
            <a:avLst/>
          </a:prstGeom>
          <a:solidFill>
            <a:srgbClr val="2f6f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457200" y="6473880"/>
            <a:ext cx="112762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5b5b66"/>
                </a:solidFill>
                <a:effectLst/>
                <a:uFillTx/>
                <a:latin typeface="Calibri"/>
              </a:rPr>
              <a:t>IT 124  |  Capstone Project 2  |  Module 01 — System Design Refinement  |  Katuwang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548640" y="384120"/>
            <a:ext cx="10971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2f6fed"/>
                </a:solidFill>
                <a:effectLst/>
                <a:uFillTx/>
                <a:latin typeface="Calibri"/>
              </a:rPr>
              <a:t>1 · INTRODUCTION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4"/>
          <p:cNvSpPr/>
          <p:nvPr/>
        </p:nvSpPr>
        <p:spPr>
          <a:xfrm>
            <a:off x="548640" y="713160"/>
            <a:ext cx="1106316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rgbClr val="1b1b1f"/>
                </a:solidFill>
                <a:effectLst/>
                <a:uFillTx/>
                <a:latin typeface="Calibri"/>
              </a:rPr>
              <a:t>The problem Katuwang solves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ectangle 5"/>
          <p:cNvSpPr/>
          <p:nvPr/>
        </p:nvSpPr>
        <p:spPr>
          <a:xfrm>
            <a:off x="567000" y="1572840"/>
            <a:ext cx="1279080" cy="37080"/>
          </a:xfrm>
          <a:prstGeom prst="rect">
            <a:avLst/>
          </a:prstGeom>
          <a:solidFill>
            <a:srgbClr val="e88c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6"/>
          <p:cNvSpPr/>
          <p:nvPr/>
        </p:nvSpPr>
        <p:spPr>
          <a:xfrm>
            <a:off x="548640" y="1828800"/>
            <a:ext cx="6765480" cy="28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400" strike="noStrike" u="none">
                <a:solidFill>
                  <a:srgbClr val="1b1b1f"/>
                </a:solidFill>
                <a:effectLst/>
                <a:uFillTx/>
                <a:latin typeface="Calibri"/>
              </a:rPr>
              <a:t>•  Context: Taysan Resettlement Integrated School (TRIS), Legazpi City — a public secondary school in a resettlement community, under classroom overcrowding and split shifts.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400" strike="noStrike" u="none">
                <a:solidFill>
                  <a:srgbClr val="1b1b1f"/>
                </a:solidFill>
                <a:effectLst/>
                <a:uFillTx/>
                <a:latin typeface="Calibri"/>
              </a:rPr>
              <a:t>•  Problem: students reach senior high still lacking basic reading / math skills; teachers are overloaded and often teaching out-of-field; the school has no formal system to organize peer academic support.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400" strike="noStrike" u="none">
                <a:solidFill>
                  <a:srgbClr val="1b1b1f"/>
                </a:solidFill>
                <a:effectLst/>
                <a:uFillTx/>
                <a:latin typeface="Calibri"/>
              </a:rPr>
              <a:t>•  Katuwang connects student tutors (peer volunteers) with student learners so tutoring is organized, tracked, and moderated instead of ad hoc.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400" strike="noStrike" u="none">
                <a:solidFill>
                  <a:srgbClr val="1b1b1f"/>
                </a:solidFill>
                <a:effectLst/>
                <a:uFillTx/>
                <a:latin typeface="Calibri"/>
              </a:rPr>
              <a:t>•  Everything is voluntary and free, no payments or monetization anywhere.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400" strike="noStrike" u="none">
                <a:solidFill>
                  <a:srgbClr val="1b1b1f"/>
                </a:solidFill>
                <a:effectLst/>
                <a:uFillTx/>
                <a:latin typeface="Calibri"/>
              </a:rPr>
              <a:t>•  Privacy mandate (RA 10173): double-blind anonymity, used student and tutor codes instead of real names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ounded Rectangle 7"/>
          <p:cNvSpPr/>
          <p:nvPr/>
        </p:nvSpPr>
        <p:spPr>
          <a:xfrm>
            <a:off x="7635240" y="1874520"/>
            <a:ext cx="3976560" cy="1050480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 w="15875">
            <a:solidFill>
              <a:srgbClr val="c9ce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3672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1b1b1f"/>
                </a:solidFill>
                <a:effectLst/>
                <a:uFillTx/>
                <a:latin typeface="Calibri"/>
              </a:rPr>
              <a:t>END USERS</a:t>
            </a:r>
            <a:br>
              <a:rPr sz="1800"/>
            </a:br>
            <a:r>
              <a:rPr b="0" lang="en-US" sz="1200" strike="noStrike" u="none">
                <a:solidFill>
                  <a:srgbClr val="1b1b1f"/>
                </a:solidFill>
                <a:effectLst/>
                <a:uFillTx/>
                <a:latin typeface="Calibri"/>
              </a:rPr>
              <a:t>Student Learner · Student Tutor · Admin</a:t>
            </a:r>
            <a:br>
              <a:rPr sz="1800"/>
            </a:br>
            <a:r>
              <a:rPr b="0" lang="en-US" sz="1200" strike="noStrike" u="none">
                <a:solidFill>
                  <a:srgbClr val="1b1b1f"/>
                </a:solidFill>
                <a:effectLst/>
                <a:uFillTx/>
                <a:latin typeface="Calibri"/>
              </a:rPr>
              <a:t>(Grades 7–12)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ounded Rectangle 8"/>
          <p:cNvSpPr/>
          <p:nvPr/>
        </p:nvSpPr>
        <p:spPr>
          <a:xfrm>
            <a:off x="7635240" y="3063240"/>
            <a:ext cx="3976560" cy="1416240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 w="15875">
            <a:solidFill>
              <a:srgbClr val="c9ce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3672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1b1b1f"/>
                </a:solidFill>
                <a:effectLst/>
                <a:uFillTx/>
                <a:latin typeface="Calibri"/>
              </a:rPr>
              <a:t>SIX MODULES</a:t>
            </a:r>
            <a:br>
              <a:rPr sz="1800"/>
            </a:br>
            <a:r>
              <a:rPr b="0" lang="en-US" sz="1200" strike="noStrike" u="none">
                <a:solidFill>
                  <a:srgbClr val="1b1b1f"/>
                </a:solidFill>
                <a:effectLst/>
                <a:uFillTx/>
                <a:latin typeface="Calibri"/>
              </a:rPr>
              <a:t>User Mgmt · Session Mgmt · Tutor Matching ·</a:t>
            </a:r>
            <a:br>
              <a:rPr sz="1800"/>
            </a:br>
            <a:r>
              <a:rPr b="0" lang="en-US" sz="1200" strike="noStrike" u="none">
                <a:solidFill>
                  <a:srgbClr val="1b1b1f"/>
                </a:solidFill>
                <a:effectLst/>
                <a:uFillTx/>
                <a:latin typeface="Calibri"/>
              </a:rPr>
              <a:t>Assessment · Chatbot · Analytics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9"/>
          <p:cNvSpPr/>
          <p:nvPr/>
        </p:nvSpPr>
        <p:spPr>
          <a:xfrm>
            <a:off x="7635240" y="4617720"/>
            <a:ext cx="3976560" cy="1050480"/>
          </a:xfrm>
          <a:prstGeom prst="roundRect">
            <a:avLst>
              <a:gd name="adj" fmla="val 16667"/>
            </a:avLst>
          </a:prstGeom>
          <a:solidFill>
            <a:srgbClr val="fcf3e6"/>
          </a:solidFill>
          <a:ln w="15875">
            <a:solidFill>
              <a:srgbClr val="e88c3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3672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1b1b1f"/>
                </a:solidFill>
                <a:effectLst/>
                <a:uFillTx/>
                <a:latin typeface="Calibri"/>
              </a:rPr>
              <a:t>SCOPE NOTE</a:t>
            </a:r>
            <a:br>
              <a:rPr sz="1800"/>
            </a:br>
            <a:r>
              <a:rPr b="0" lang="en-US" sz="1100" strike="noStrike" u="none">
                <a:solidFill>
                  <a:srgbClr val="1b1b1f"/>
                </a:solidFill>
                <a:effectLst/>
                <a:uFillTx/>
                <a:latin typeface="Calibri"/>
              </a:rPr>
              <a:t>3 roles only and will only be deployed on TRIS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3"/>
          <p:cNvSpPr/>
          <p:nvPr/>
        </p:nvSpPr>
        <p:spPr>
          <a:xfrm>
            <a:off x="0" y="0"/>
            <a:ext cx="12190680" cy="127080"/>
          </a:xfrm>
          <a:prstGeom prst="rect">
            <a:avLst/>
          </a:prstGeom>
          <a:solidFill>
            <a:srgbClr val="2f6f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9"/>
          <p:cNvSpPr/>
          <p:nvPr/>
        </p:nvSpPr>
        <p:spPr>
          <a:xfrm>
            <a:off x="457200" y="6473880"/>
            <a:ext cx="41526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5b5b66"/>
                </a:solidFill>
                <a:effectLst/>
                <a:uFillTx/>
                <a:latin typeface="Calibri"/>
              </a:rPr>
              <a:t>IT 124  |  Capstone Project 2  |  Module 01 — System Design Refinement  |  Katuwang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1"/>
          <p:cNvSpPr/>
          <p:nvPr/>
        </p:nvSpPr>
        <p:spPr>
          <a:xfrm>
            <a:off x="548640" y="384120"/>
            <a:ext cx="1097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2f6fed"/>
                </a:solidFill>
                <a:effectLst/>
                <a:uFillTx/>
                <a:latin typeface="Calibri"/>
              </a:rPr>
              <a:t>2 · PANEL RECOMMENDATIONS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2"/>
          <p:cNvSpPr/>
          <p:nvPr/>
        </p:nvSpPr>
        <p:spPr>
          <a:xfrm>
            <a:off x="548640" y="713160"/>
            <a:ext cx="110631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rgbClr val="1b1b1f"/>
                </a:solidFill>
                <a:effectLst/>
                <a:uFillTx/>
                <a:latin typeface="Calibri"/>
              </a:rPr>
              <a:t>What our Capstone 1 panel asked for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 4"/>
          <p:cNvSpPr/>
          <p:nvPr/>
        </p:nvSpPr>
        <p:spPr>
          <a:xfrm>
            <a:off x="567000" y="1572840"/>
            <a:ext cx="1279080" cy="37080"/>
          </a:xfrm>
          <a:prstGeom prst="rect">
            <a:avLst/>
          </a:prstGeom>
          <a:solidFill>
            <a:srgbClr val="e88c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13"/>
          <p:cNvSpPr/>
          <p:nvPr/>
        </p:nvSpPr>
        <p:spPr>
          <a:xfrm>
            <a:off x="548640" y="1783080"/>
            <a:ext cx="11063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200" strike="noStrike" u="none">
                <a:solidFill>
                  <a:srgbClr val="5b5b66"/>
                </a:solidFill>
                <a:effectLst/>
                <a:uFillTx/>
                <a:latin typeface="Calibri"/>
              </a:rPr>
              <a:t>Recorded from the panel recommendation sheet. Each is resolved later in this deck with a specific design change and a named justification.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6" name="Table 2"/>
          <p:cNvGraphicFramePr/>
          <p:nvPr/>
        </p:nvGraphicFramePr>
        <p:xfrm>
          <a:off x="1205640" y="2266920"/>
          <a:ext cx="9417960" cy="2011680"/>
        </p:xfrm>
        <a:graphic>
          <a:graphicData uri="http://schemas.openxmlformats.org/drawingml/2006/table">
            <a:tbl>
              <a:tblPr/>
              <a:tblGrid>
                <a:gridCol w="457200"/>
                <a:gridCol w="6766560"/>
                <a:gridCol w="2194560"/>
              </a:tblGrid>
              <a:tr h="502920"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#</a:t>
                      </a:r>
                      <a:endParaRPr b="0" lang="en-US" sz="10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ca8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Panel recommendation</a:t>
                      </a:r>
                      <a:endParaRPr b="0" lang="en-US" sz="10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ca8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Artifact affected</a:t>
                      </a:r>
                      <a:endParaRPr b="0" lang="en-US" sz="10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ca8"/>
                    </a:solidFill>
                  </a:tcPr>
                </a:tc>
              </a:tr>
              <a:tr h="502920"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1b1b1f"/>
                          </a:solidFill>
                          <a:effectLst/>
                          <a:uFillTx/>
                          <a:latin typeface="Calibri"/>
                        </a:rPr>
                        <a:t>R1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Use Codes instead of real names of Tutors and Tutees.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1b1b1f"/>
                          </a:solidFill>
                          <a:effectLst/>
                          <a:uFillTx/>
                          <a:latin typeface="Calibri"/>
                        </a:rPr>
                        <a:t>Database schema (ERD)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</a:tr>
              <a:tr h="502920"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1b1b1f"/>
                          </a:solidFill>
                          <a:effectLst/>
                          <a:uFillTx/>
                          <a:latin typeface="Calibri"/>
                        </a:rPr>
                        <a:t>R2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1b1b1f"/>
                          </a:solidFill>
                          <a:effectLst/>
                          <a:uFillTx/>
                          <a:latin typeface="Calibri"/>
                        </a:rPr>
                        <a:t>Justified Security for the System (Bcrypt password hashing)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1b1b1f"/>
                          </a:solidFill>
                          <a:effectLst/>
                          <a:uFillTx/>
                          <a:latin typeface="Calibri"/>
                        </a:rPr>
                        <a:t>Architecture, tech stack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1b1b1f"/>
                          </a:solidFill>
                          <a:effectLst/>
                          <a:uFillTx/>
                          <a:latin typeface="Calibri"/>
                        </a:rPr>
                        <a:t>R3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1b1b1f"/>
                          </a:solidFill>
                          <a:effectLst/>
                          <a:uFillTx/>
                          <a:latin typeface="Calibri"/>
                        </a:rPr>
                        <a:t>Not use AI Analytics 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1b1b1f"/>
                          </a:solidFill>
                          <a:effectLst/>
                          <a:uFillTx/>
                          <a:latin typeface="Calibri"/>
                        </a:rPr>
                        <a:t>Tech stack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1"/>
          <p:cNvSpPr/>
          <p:nvPr/>
        </p:nvSpPr>
        <p:spPr>
          <a:xfrm>
            <a:off x="0" y="0"/>
            <a:ext cx="12190680" cy="127080"/>
          </a:xfrm>
          <a:prstGeom prst="rect">
            <a:avLst/>
          </a:prstGeom>
          <a:solidFill>
            <a:srgbClr val="2f6f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457200" y="6473880"/>
            <a:ext cx="112762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5b5b66"/>
                </a:solidFill>
                <a:effectLst/>
                <a:uFillTx/>
                <a:latin typeface="Calibri"/>
              </a:rPr>
              <a:t>IT 124  |  Capstone Project 2  |  Module 01 — System Design Refinement  |  Katuwang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3"/>
          <p:cNvSpPr/>
          <p:nvPr/>
        </p:nvSpPr>
        <p:spPr>
          <a:xfrm>
            <a:off x="548640" y="384120"/>
            <a:ext cx="10971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2f6fed"/>
                </a:solidFill>
                <a:effectLst/>
                <a:uFillTx/>
                <a:latin typeface="Calibri"/>
              </a:rPr>
              <a:t>3 · FINALIZED ARCHITECTURE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4"/>
          <p:cNvSpPr/>
          <p:nvPr/>
        </p:nvSpPr>
        <p:spPr>
          <a:xfrm>
            <a:off x="548640" y="713160"/>
            <a:ext cx="1106316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rgbClr val="1b1b1f"/>
                </a:solidFill>
                <a:effectLst/>
                <a:uFillTx/>
                <a:latin typeface="Calibri"/>
              </a:rPr>
              <a:t>Pattern: modular monolith (Next.js full-stack)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ectangle 5"/>
          <p:cNvSpPr/>
          <p:nvPr/>
        </p:nvSpPr>
        <p:spPr>
          <a:xfrm>
            <a:off x="567000" y="1572840"/>
            <a:ext cx="1279080" cy="37080"/>
          </a:xfrm>
          <a:prstGeom prst="rect">
            <a:avLst/>
          </a:prstGeom>
          <a:solidFill>
            <a:srgbClr val="e88c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Rounded Rectangle 6"/>
          <p:cNvSpPr/>
          <p:nvPr/>
        </p:nvSpPr>
        <p:spPr>
          <a:xfrm>
            <a:off x="457200" y="2011680"/>
            <a:ext cx="1553400" cy="730440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 w="15875">
            <a:solidFill>
              <a:srgbClr val="c9ce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3672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1b1b1f"/>
                </a:solidFill>
                <a:effectLst/>
                <a:uFillTx/>
                <a:latin typeface="Calibri"/>
              </a:rPr>
              <a:t>Learner</a:t>
            </a:r>
            <a:br>
              <a:rPr sz="1800"/>
            </a:br>
            <a:r>
              <a:rPr b="0" lang="en-US" sz="1100" strike="noStrike" u="none">
                <a:solidFill>
                  <a:srgbClr val="1b1b1f"/>
                </a:solidFill>
                <a:effectLst/>
                <a:uFillTx/>
                <a:latin typeface="Calibri"/>
              </a:rPr>
              <a:t>(browser)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7"/>
          <p:cNvSpPr/>
          <p:nvPr/>
        </p:nvSpPr>
        <p:spPr>
          <a:xfrm>
            <a:off x="457200" y="3063240"/>
            <a:ext cx="1553400" cy="730440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 w="15875">
            <a:solidFill>
              <a:srgbClr val="c9ce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3672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1b1b1f"/>
                </a:solidFill>
                <a:effectLst/>
                <a:uFillTx/>
                <a:latin typeface="Calibri"/>
              </a:rPr>
              <a:t>Tutor</a:t>
            </a:r>
            <a:br>
              <a:rPr sz="1800"/>
            </a:br>
            <a:r>
              <a:rPr b="0" lang="en-US" sz="1100" strike="noStrike" u="none">
                <a:solidFill>
                  <a:srgbClr val="1b1b1f"/>
                </a:solidFill>
                <a:effectLst/>
                <a:uFillTx/>
                <a:latin typeface="Calibri"/>
              </a:rPr>
              <a:t>(browser)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ounded Rectangle 8"/>
          <p:cNvSpPr/>
          <p:nvPr/>
        </p:nvSpPr>
        <p:spPr>
          <a:xfrm>
            <a:off x="457200" y="4114800"/>
            <a:ext cx="1553400" cy="730440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 w="15875">
            <a:solidFill>
              <a:srgbClr val="c9ce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3672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1b1b1f"/>
                </a:solidFill>
                <a:effectLst/>
                <a:uFillTx/>
                <a:latin typeface="Calibri"/>
              </a:rPr>
              <a:t>Admin</a:t>
            </a:r>
            <a:br>
              <a:rPr sz="1800"/>
            </a:br>
            <a:r>
              <a:rPr b="0" lang="en-US" sz="1100" strike="noStrike" u="none">
                <a:solidFill>
                  <a:srgbClr val="1b1b1f"/>
                </a:solidFill>
                <a:effectLst/>
                <a:uFillTx/>
                <a:latin typeface="Calibri"/>
              </a:rPr>
              <a:t>(browser)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ounded Rectangle 9"/>
          <p:cNvSpPr/>
          <p:nvPr/>
        </p:nvSpPr>
        <p:spPr>
          <a:xfrm>
            <a:off x="2651760" y="1371600"/>
            <a:ext cx="6399720" cy="3428280"/>
          </a:xfrm>
          <a:prstGeom prst="roundRect">
            <a:avLst>
              <a:gd name="adj" fmla="val 6922"/>
            </a:avLst>
          </a:prstGeom>
          <a:solidFill>
            <a:srgbClr val="eef3fe"/>
          </a:solidFill>
          <a:ln w="19050">
            <a:solidFill>
              <a:srgbClr val="2f6f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2824920" y="1523160"/>
            <a:ext cx="6033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1e4ca8"/>
                </a:solidFill>
                <a:effectLst/>
                <a:uFillTx/>
                <a:latin typeface="Calibri"/>
              </a:rPr>
              <a:t>Next.js 16 App Router — single deployable application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ounded Rectangle 11"/>
          <p:cNvSpPr/>
          <p:nvPr/>
        </p:nvSpPr>
        <p:spPr>
          <a:xfrm>
            <a:off x="2834640" y="1890000"/>
            <a:ext cx="6033960" cy="547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9ce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3672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1b1b1f"/>
                </a:solidFill>
                <a:effectLst/>
                <a:uFillTx/>
                <a:latin typeface="Calibri"/>
              </a:rPr>
              <a:t>Edge middleware — src/proxy.ts  ·  RBAC route guards (JWT session)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12"/>
          <p:cNvSpPr/>
          <p:nvPr/>
        </p:nvSpPr>
        <p:spPr>
          <a:xfrm>
            <a:off x="2834640" y="2694960"/>
            <a:ext cx="2879280" cy="913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9ce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3672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1b1b1f"/>
                </a:solidFill>
                <a:effectLst/>
                <a:uFillTx/>
                <a:latin typeface="Calibri"/>
              </a:rPr>
              <a:t>Presentation</a:t>
            </a:r>
            <a:br>
              <a:rPr sz="1800"/>
            </a:br>
            <a:r>
              <a:rPr b="0" lang="en-US" sz="950" strike="noStrike" u="none">
                <a:solidFill>
                  <a:srgbClr val="1b1b1f"/>
                </a:solidFill>
                <a:effectLst/>
                <a:uFillTx/>
                <a:latin typeface="Calibri"/>
              </a:rPr>
              <a:t>Server Components +</a:t>
            </a:r>
            <a:br>
              <a:rPr sz="1800"/>
            </a:br>
            <a:r>
              <a:rPr b="0" lang="en-US" sz="950" strike="noStrike" u="none">
                <a:solidFill>
                  <a:srgbClr val="1b1b1f"/>
                </a:solidFill>
                <a:effectLst/>
                <a:uFillTx/>
                <a:latin typeface="Calibri"/>
              </a:rPr>
              <a:t>"use client" UI</a:t>
            </a:r>
            <a:br>
              <a:rPr sz="1800"/>
            </a:br>
            <a:r>
              <a:rPr b="0" lang="en-US" sz="950" strike="noStrike" u="none">
                <a:solidFill>
                  <a:srgbClr val="1b1b1f"/>
                </a:solidFill>
                <a:effectLst/>
                <a:uFillTx/>
                <a:latin typeface="Calibri"/>
              </a:rPr>
              <a:t>(learner/tutor/admin portals)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ounded Rectangle 13"/>
          <p:cNvSpPr/>
          <p:nvPr/>
        </p:nvSpPr>
        <p:spPr>
          <a:xfrm>
            <a:off x="5897880" y="2710080"/>
            <a:ext cx="2970720" cy="913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9ce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3672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1b1b1f"/>
                </a:solidFill>
                <a:effectLst/>
                <a:uFillTx/>
                <a:latin typeface="Calibri"/>
              </a:rPr>
              <a:t>Application / business logic</a:t>
            </a:r>
            <a:br>
              <a:rPr sz="1800"/>
            </a:br>
            <a:r>
              <a:rPr b="0" lang="en-US" sz="950" strike="noStrike" u="none">
                <a:solidFill>
                  <a:srgbClr val="1b1b1f"/>
                </a:solidFill>
                <a:effectLst/>
                <a:uFillTx/>
                <a:latin typeface="Calibri"/>
              </a:rPr>
              <a:t>Route Handlers src/app/api/**</a:t>
            </a:r>
            <a:br>
              <a:rPr sz="1800"/>
            </a:br>
            <a:r>
              <a:rPr b="0" lang="en-US" sz="950" strike="noStrike" u="none">
                <a:solidFill>
                  <a:srgbClr val="1b1b1f"/>
                </a:solidFill>
                <a:effectLst/>
                <a:uFillTx/>
                <a:latin typeface="Calibri"/>
              </a:rPr>
              <a:t>matching · assessment · notifications and user code generation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14"/>
          <p:cNvSpPr/>
          <p:nvPr/>
        </p:nvSpPr>
        <p:spPr>
          <a:xfrm>
            <a:off x="2834640" y="3905640"/>
            <a:ext cx="6033960" cy="56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9ce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3672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1b1b1f"/>
                </a:solidFill>
                <a:effectLst/>
                <a:uFillTx/>
                <a:latin typeface="Calibri"/>
              </a:rPr>
              <a:t>Data access — Prisma 7 ORM  ·  @prisma/adapter-mariadb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Can 17"/>
          <p:cNvSpPr/>
          <p:nvPr/>
        </p:nvSpPr>
        <p:spPr>
          <a:xfrm>
            <a:off x="9784080" y="3063240"/>
            <a:ext cx="1919160" cy="1461960"/>
          </a:xfrm>
          <a:prstGeom prst="can">
            <a:avLst>
              <a:gd name="adj" fmla="val 25000"/>
            </a:avLst>
          </a:prstGeom>
          <a:solidFill>
            <a:srgbClr val="f4f5f7"/>
          </a:solidFill>
          <a:ln w="15875">
            <a:solidFill>
              <a:srgbClr val="c9ce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3672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1b1b1f"/>
                </a:solidFill>
                <a:effectLst/>
                <a:uFillTx/>
                <a:latin typeface="Calibri"/>
              </a:rPr>
              <a:t>MySQL</a:t>
            </a:r>
            <a:br>
              <a:rPr sz="1800"/>
            </a:br>
            <a:r>
              <a:rPr b="0" lang="en-US" sz="1100" strike="noStrike" u="none">
                <a:solidFill>
                  <a:srgbClr val="1b1b1f"/>
                </a:solidFill>
                <a:effectLst/>
                <a:uFillTx/>
                <a:latin typeface="Calibri"/>
              </a:rPr>
              <a:t>relational database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2" name="Connector 18"/>
          <p:cNvCxnSpPr>
            <a:stCxn id="92" idx="3"/>
            <a:endCxn id="97" idx="1"/>
          </p:cNvCxnSpPr>
          <p:nvPr/>
        </p:nvCxnSpPr>
        <p:spPr>
          <a:xfrm flipV="1">
            <a:off x="2010600" y="2163600"/>
            <a:ext cx="824400" cy="213480"/>
          </a:xfrm>
          <a:prstGeom prst="straightConnector1">
            <a:avLst/>
          </a:prstGeom>
          <a:ln w="19050">
            <a:solidFill>
              <a:srgbClr val="5b5b66"/>
            </a:solidFill>
            <a:round/>
            <a:tailEnd len="med" type="triangle" w="med"/>
          </a:ln>
        </p:spPr>
      </p:cxnSp>
      <p:cxnSp>
        <p:nvCxnSpPr>
          <p:cNvPr id="103" name="Connector 19"/>
          <p:cNvCxnSpPr>
            <a:stCxn id="93" idx="3"/>
            <a:endCxn id="97" idx="1"/>
          </p:cNvCxnSpPr>
          <p:nvPr/>
        </p:nvCxnSpPr>
        <p:spPr>
          <a:xfrm flipV="1">
            <a:off x="2010600" y="2163600"/>
            <a:ext cx="824400" cy="1265040"/>
          </a:xfrm>
          <a:prstGeom prst="straightConnector1">
            <a:avLst/>
          </a:prstGeom>
          <a:ln w="19050">
            <a:solidFill>
              <a:srgbClr val="5b5b66"/>
            </a:solidFill>
            <a:round/>
            <a:tailEnd len="med" type="triangle" w="med"/>
          </a:ln>
        </p:spPr>
      </p:cxnSp>
      <p:cxnSp>
        <p:nvCxnSpPr>
          <p:cNvPr id="104" name="Connector 20"/>
          <p:cNvCxnSpPr>
            <a:stCxn id="94" idx="3"/>
            <a:endCxn id="97" idx="1"/>
          </p:cNvCxnSpPr>
          <p:nvPr/>
        </p:nvCxnSpPr>
        <p:spPr>
          <a:xfrm flipV="1">
            <a:off x="2010600" y="2163600"/>
            <a:ext cx="824400" cy="2316600"/>
          </a:xfrm>
          <a:prstGeom prst="straightConnector1">
            <a:avLst/>
          </a:prstGeom>
          <a:ln w="19050">
            <a:solidFill>
              <a:srgbClr val="5b5b66"/>
            </a:solidFill>
            <a:round/>
            <a:tailEnd len="med" type="triangle" w="med"/>
          </a:ln>
        </p:spPr>
      </p:cxnSp>
      <p:cxnSp>
        <p:nvCxnSpPr>
          <p:cNvPr id="105" name="Connector 21"/>
          <p:cNvCxnSpPr>
            <a:stCxn id="97" idx="2"/>
            <a:endCxn id="98" idx="0"/>
          </p:cNvCxnSpPr>
          <p:nvPr/>
        </p:nvCxnSpPr>
        <p:spPr>
          <a:xfrm flipH="1">
            <a:off x="4274280" y="2437560"/>
            <a:ext cx="1577520" cy="257760"/>
          </a:xfrm>
          <a:prstGeom prst="straightConnector1">
            <a:avLst/>
          </a:prstGeom>
          <a:ln w="19050">
            <a:solidFill>
              <a:srgbClr val="5b5b66"/>
            </a:solidFill>
            <a:round/>
            <a:tailEnd len="med" type="triangle" w="med"/>
          </a:ln>
        </p:spPr>
      </p:cxnSp>
      <p:cxnSp>
        <p:nvCxnSpPr>
          <p:cNvPr id="106" name="Connector 22"/>
          <p:cNvCxnSpPr>
            <a:stCxn id="98" idx="3"/>
            <a:endCxn id="99" idx="1"/>
          </p:cNvCxnSpPr>
          <p:nvPr/>
        </p:nvCxnSpPr>
        <p:spPr>
          <a:xfrm>
            <a:off x="5713920" y="3151440"/>
            <a:ext cx="184320" cy="15480"/>
          </a:xfrm>
          <a:prstGeom prst="straightConnector1">
            <a:avLst/>
          </a:prstGeom>
          <a:ln w="19050">
            <a:solidFill>
              <a:srgbClr val="5b5b66"/>
            </a:solidFill>
            <a:round/>
            <a:tailEnd len="med" type="triangle" w="med"/>
          </a:ln>
        </p:spPr>
      </p:cxnSp>
      <p:cxnSp>
        <p:nvCxnSpPr>
          <p:cNvPr id="107" name="Connector 23"/>
          <p:cNvCxnSpPr>
            <a:stCxn id="99" idx="2"/>
            <a:endCxn id="100" idx="0"/>
          </p:cNvCxnSpPr>
          <p:nvPr/>
        </p:nvCxnSpPr>
        <p:spPr>
          <a:xfrm flipH="1">
            <a:off x="5851440" y="3623400"/>
            <a:ext cx="1532160" cy="282600"/>
          </a:xfrm>
          <a:prstGeom prst="straightConnector1">
            <a:avLst/>
          </a:prstGeom>
          <a:ln w="19050">
            <a:solidFill>
              <a:srgbClr val="5b5b66"/>
            </a:solidFill>
            <a:round/>
            <a:tailEnd len="med" type="triangle" w="med"/>
          </a:ln>
        </p:spPr>
      </p:cxnSp>
      <p:cxnSp>
        <p:nvCxnSpPr>
          <p:cNvPr id="108" name="Connector 24"/>
          <p:cNvCxnSpPr>
            <a:stCxn id="100" idx="3"/>
            <a:endCxn id="101" idx="1"/>
          </p:cNvCxnSpPr>
          <p:nvPr/>
        </p:nvCxnSpPr>
        <p:spPr>
          <a:xfrm flipV="1">
            <a:off x="8868600" y="3794040"/>
            <a:ext cx="915840" cy="394920"/>
          </a:xfrm>
          <a:prstGeom prst="straightConnector1">
            <a:avLst/>
          </a:prstGeom>
          <a:ln w="19050">
            <a:solidFill>
              <a:srgbClr val="5b5b66"/>
            </a:solidFill>
            <a:round/>
            <a:tailEnd len="med" type="triangle" w="med"/>
          </a:ln>
        </p:spPr>
      </p:cxnSp>
      <p:sp>
        <p:nvSpPr>
          <p:cNvPr id="109" name="TextBox 25"/>
          <p:cNvSpPr/>
          <p:nvPr/>
        </p:nvSpPr>
        <p:spPr>
          <a:xfrm>
            <a:off x="457200" y="5943600"/>
            <a:ext cx="1097172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"/>
          <p:cNvSpPr/>
          <p:nvPr/>
        </p:nvSpPr>
        <p:spPr>
          <a:xfrm>
            <a:off x="0" y="0"/>
            <a:ext cx="12190680" cy="127080"/>
          </a:xfrm>
          <a:prstGeom prst="rect">
            <a:avLst/>
          </a:prstGeom>
          <a:solidFill>
            <a:srgbClr val="2f6f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Box 2"/>
          <p:cNvSpPr/>
          <p:nvPr/>
        </p:nvSpPr>
        <p:spPr>
          <a:xfrm>
            <a:off x="457200" y="6473880"/>
            <a:ext cx="112762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5b5b66"/>
                </a:solidFill>
                <a:effectLst/>
                <a:uFillTx/>
                <a:latin typeface="Calibri"/>
              </a:rPr>
              <a:t>IT 124  |  Capstone Project 2  |  Module 01 — System Design Refinement  |  Katuwang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3"/>
          <p:cNvSpPr/>
          <p:nvPr/>
        </p:nvSpPr>
        <p:spPr>
          <a:xfrm>
            <a:off x="548640" y="384120"/>
            <a:ext cx="10971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2f6fed"/>
                </a:solidFill>
                <a:effectLst/>
                <a:uFillTx/>
                <a:latin typeface="Calibri"/>
              </a:rPr>
              <a:t>3 · FINALIZED ARCHITECTURE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4"/>
          <p:cNvSpPr/>
          <p:nvPr/>
        </p:nvSpPr>
        <p:spPr>
          <a:xfrm>
            <a:off x="548640" y="713160"/>
            <a:ext cx="110631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rgbClr val="1b1b1f"/>
                </a:solidFill>
                <a:effectLst/>
                <a:uFillTx/>
                <a:latin typeface="Calibri"/>
              </a:rPr>
              <a:t>Why modular monolith and each component's job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ectangle 5"/>
          <p:cNvSpPr/>
          <p:nvPr/>
        </p:nvSpPr>
        <p:spPr>
          <a:xfrm>
            <a:off x="567000" y="1572840"/>
            <a:ext cx="1279080" cy="37080"/>
          </a:xfrm>
          <a:prstGeom prst="rect">
            <a:avLst/>
          </a:prstGeom>
          <a:solidFill>
            <a:srgbClr val="e88c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6"/>
          <p:cNvSpPr/>
          <p:nvPr/>
        </p:nvSpPr>
        <p:spPr>
          <a:xfrm>
            <a:off x="548640" y="1828800"/>
            <a:ext cx="5759640" cy="22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300" strike="noStrike" u="none">
                <a:solidFill>
                  <a:srgbClr val="1b1b1f"/>
                </a:solidFill>
                <a:effectLst/>
                <a:uFillTx/>
                <a:latin typeface="Calibri"/>
              </a:rPr>
              <a:t>•  Chosen over microservices: at capstone scale a 5-person team cannot operate independent services; the modules are loosely related, not independently scaled or deployed.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300" strike="noStrike" u="none">
                <a:solidFill>
                  <a:srgbClr val="1b1b1f"/>
                </a:solidFill>
                <a:effectLst/>
                <a:uFillTx/>
                <a:latin typeface="Calibri"/>
              </a:rPr>
              <a:t>•  Chosen over a plain layered app on a separate backend: Next.js unifies presentation + API in one codebase and one deploy, which the team can actually build and test in the timeline.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300" strike="noStrike" u="none">
                <a:solidFill>
                  <a:srgbClr val="1b1b1f"/>
                </a:solidFill>
                <a:effectLst/>
                <a:uFillTx/>
                <a:latin typeface="Calibri"/>
              </a:rPr>
              <a:t>•  Internal module separation still gives us layered discipline (presentation / logic / data) without a distributed system.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300" strike="noStrike" u="none">
                <a:solidFill>
                  <a:srgbClr val="1b1b1f"/>
                </a:solidFill>
                <a:effectLst/>
                <a:uFillTx/>
                <a:latin typeface="Calibri"/>
              </a:rPr>
              <a:t>•  Scale target: one school, hundreds of active students, not millions.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6" name="Table 7"/>
          <p:cNvGraphicFramePr/>
          <p:nvPr/>
        </p:nvGraphicFramePr>
        <p:xfrm>
          <a:off x="6537960" y="1828800"/>
          <a:ext cx="5120280" cy="4112640"/>
        </p:xfrm>
        <a:graphic>
          <a:graphicData uri="http://schemas.openxmlformats.org/drawingml/2006/table">
            <a:tbl>
              <a:tblPr/>
              <a:tblGrid>
                <a:gridCol w="1737360"/>
                <a:gridCol w="3383280"/>
              </a:tblGrid>
              <a:tr h="514080"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Component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ca8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One-sentence responsibility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ca8"/>
                    </a:solidFill>
                  </a:tcPr>
                </a:tc>
              </a:tr>
              <a:tr h="514080"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1b1b1f"/>
                          </a:solidFill>
                          <a:effectLst/>
                          <a:uFillTx/>
                          <a:latin typeface="Calibri"/>
                        </a:rPr>
                        <a:t>Edge middleware (proxy.ts)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1b1b1f"/>
                          </a:solidFill>
                          <a:effectLst/>
                          <a:uFillTx/>
                          <a:latin typeface="Calibri"/>
                        </a:rPr>
                        <a:t>Rejects any request whose JWT role may not reach that route.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</a:tr>
              <a:tr h="514080"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1b1b1f"/>
                          </a:solidFill>
                          <a:effectLst/>
                          <a:uFillTx/>
                          <a:latin typeface="Calibri"/>
                        </a:rPr>
                        <a:t>Server Components / client UI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1b1b1f"/>
                          </a:solidFill>
                          <a:effectLst/>
                          <a:uFillTx/>
                          <a:latin typeface="Calibri"/>
                        </a:rPr>
                        <a:t>Renders each role's portal and collects user input.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080"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1b1b1f"/>
                          </a:solidFill>
                          <a:effectLst/>
                          <a:uFillTx/>
                          <a:latin typeface="Calibri"/>
                        </a:rPr>
                        <a:t>Route Handlers (api/**)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1b1b1f"/>
                          </a:solidFill>
                          <a:effectLst/>
                          <a:uFillTx/>
                          <a:latin typeface="Calibri"/>
                        </a:rPr>
                        <a:t>Validate (Zod), enforce RBAC, run business rules, return JSON.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</a:tr>
              <a:tr h="514080"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1b1b1f"/>
                          </a:solidFill>
                          <a:effectLst/>
                          <a:uFillTx/>
                          <a:latin typeface="Calibri"/>
                        </a:rPr>
                        <a:t>Prisma + adapter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1b1b1f"/>
                          </a:solidFill>
                          <a:effectLst/>
                          <a:uFillTx/>
                          <a:latin typeface="Calibri"/>
                        </a:rPr>
                        <a:t>Only path to the database; owns transactions.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080"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1b1b1f"/>
                          </a:solidFill>
                          <a:effectLst/>
                          <a:uFillTx/>
                          <a:latin typeface="Calibri"/>
                        </a:rPr>
                        <a:t>NextAuth (auth.ts)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1b1b1f"/>
                          </a:solidFill>
                          <a:effectLst/>
                          <a:uFillTx/>
                          <a:latin typeface="Calibri"/>
                        </a:rPr>
                        <a:t>Authenticates credentials, mints and verifies JWT sessions.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</a:tr>
              <a:tr h="514080">
                <a:tc>
                  <a:txBody>
                    <a:bodyPr lIns="73080" rIns="7308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080">
                <a:tc>
                  <a:txBody>
                    <a:bodyPr lIns="73080" rIns="7308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"/>
          <p:cNvSpPr/>
          <p:nvPr/>
        </p:nvSpPr>
        <p:spPr>
          <a:xfrm>
            <a:off x="0" y="0"/>
            <a:ext cx="12190680" cy="127080"/>
          </a:xfrm>
          <a:prstGeom prst="rect">
            <a:avLst/>
          </a:prstGeom>
          <a:solidFill>
            <a:srgbClr val="2f6f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2"/>
          <p:cNvSpPr/>
          <p:nvPr/>
        </p:nvSpPr>
        <p:spPr>
          <a:xfrm>
            <a:off x="457200" y="6473880"/>
            <a:ext cx="112762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5b5b66"/>
                </a:solidFill>
                <a:effectLst/>
                <a:uFillTx/>
                <a:latin typeface="Calibri"/>
              </a:rPr>
              <a:t>IT 124  |  Capstone Project 2  |  Module 01 — System Design Refinement  |  Katuwang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3"/>
          <p:cNvSpPr/>
          <p:nvPr/>
        </p:nvSpPr>
        <p:spPr>
          <a:xfrm>
            <a:off x="548640" y="384120"/>
            <a:ext cx="10971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2f6fed"/>
                </a:solidFill>
                <a:effectLst/>
                <a:uFillTx/>
                <a:latin typeface="Calibri"/>
              </a:rPr>
              <a:t>3 · FINALIZED ARCHITECTURE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4"/>
          <p:cNvSpPr/>
          <p:nvPr/>
        </p:nvSpPr>
        <p:spPr>
          <a:xfrm>
            <a:off x="548640" y="713160"/>
            <a:ext cx="1106316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rgbClr val="1b1b1f"/>
                </a:solidFill>
                <a:effectLst/>
                <a:uFillTx/>
                <a:latin typeface="Calibri"/>
              </a:rPr>
              <a:t>Technology stack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ectangle 5"/>
          <p:cNvSpPr/>
          <p:nvPr/>
        </p:nvSpPr>
        <p:spPr>
          <a:xfrm>
            <a:off x="567000" y="1572840"/>
            <a:ext cx="1279080" cy="37080"/>
          </a:xfrm>
          <a:prstGeom prst="rect">
            <a:avLst/>
          </a:prstGeom>
          <a:solidFill>
            <a:srgbClr val="e88c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22" name="Table 6"/>
          <p:cNvGraphicFramePr/>
          <p:nvPr/>
        </p:nvGraphicFramePr>
        <p:xfrm>
          <a:off x="548640" y="1828800"/>
          <a:ext cx="11063880" cy="420552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5760720"/>
              </a:tblGrid>
              <a:tr h="467280"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Layer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ca8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Technology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ca8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Role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ca8"/>
                    </a:solidFill>
                  </a:tcPr>
                </a:tc>
              </a:tr>
              <a:tr h="467280"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1b1b1f"/>
                          </a:solidFill>
                          <a:effectLst/>
                          <a:uFillTx/>
                          <a:latin typeface="Calibri"/>
                        </a:rPr>
                        <a:t>Framework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1b1b1f"/>
                          </a:solidFill>
                          <a:effectLst/>
                          <a:uFillTx/>
                          <a:latin typeface="Calibri"/>
                        </a:rPr>
                        <a:t>Next.js 16 (App Router)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1b1b1f"/>
                          </a:solidFill>
                          <a:effectLst/>
                          <a:uFillTx/>
                          <a:latin typeface="Calibri"/>
                        </a:rPr>
                        <a:t>Monolithic full-stack app (RSC + client components)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</a:tr>
              <a:tr h="467280"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1b1b1f"/>
                          </a:solidFill>
                          <a:effectLst/>
                          <a:uFillTx/>
                          <a:latin typeface="Calibri"/>
                        </a:rPr>
                        <a:t>Language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1b1b1f"/>
                          </a:solidFill>
                          <a:effectLst/>
                          <a:uFillTx/>
                          <a:latin typeface="Calibri"/>
                        </a:rPr>
                        <a:t>TypeScript 5 (strict)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1b1b1f"/>
                          </a:solidFill>
                          <a:effectLst/>
                          <a:uFillTx/>
                          <a:latin typeface="Calibri"/>
                        </a:rPr>
                        <a:t>Static typing across models, validation, APIs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7280"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1b1b1f"/>
                          </a:solidFill>
                          <a:effectLst/>
                          <a:uFillTx/>
                          <a:latin typeface="Calibri"/>
                        </a:rPr>
                        <a:t>UI &amp; styling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1b1b1f"/>
                          </a:solidFill>
                          <a:effectLst/>
                          <a:uFillTx/>
                          <a:latin typeface="Calibri"/>
                        </a:rPr>
                        <a:t>Tailwind CSS 4 + DaisyUI 5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1b1b1f"/>
                          </a:solidFill>
                          <a:effectLst/>
                          <a:uFillTx/>
                          <a:latin typeface="Calibri"/>
                        </a:rPr>
                        <a:t>OKLCH semantic theme, accessible components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</a:tr>
              <a:tr h="467280"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1b1b1f"/>
                          </a:solidFill>
                          <a:effectLst/>
                          <a:uFillTx/>
                          <a:latin typeface="Calibri"/>
                        </a:rPr>
                        <a:t>Icons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1b1b1f"/>
                          </a:solidFill>
                          <a:effectLst/>
                          <a:uFillTx/>
                          <a:latin typeface="Calibri"/>
                        </a:rPr>
                        <a:t>Lucide React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1b1b1f"/>
                          </a:solidFill>
                          <a:effectLst/>
                          <a:uFillTx/>
                          <a:latin typeface="Calibri"/>
                        </a:rPr>
                        <a:t>Action / status / navigation icons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7280"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1b1b1f"/>
                          </a:solidFill>
                          <a:effectLst/>
                          <a:uFillTx/>
                          <a:latin typeface="Calibri"/>
                        </a:rPr>
                        <a:t>Authentication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1b1b1f"/>
                          </a:solidFill>
                          <a:effectLst/>
                          <a:uFillTx/>
                          <a:latin typeface="Calibri"/>
                        </a:rPr>
                        <a:t>NextAuth.js 4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1b1b1f"/>
                          </a:solidFill>
                          <a:effectLst/>
                          <a:uFillTx/>
                          <a:latin typeface="Calibri"/>
                        </a:rPr>
                        <a:t>Credentials provider, JWT session strategy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</a:tr>
              <a:tr h="467280"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1b1b1f"/>
                          </a:solidFill>
                          <a:effectLst/>
                          <a:uFillTx/>
                          <a:latin typeface="Calibri"/>
                        </a:rPr>
                        <a:t>Database &amp; ORM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1b1b1f"/>
                          </a:solidFill>
                          <a:effectLst/>
                          <a:uFillTx/>
                          <a:latin typeface="Calibri"/>
                        </a:rPr>
                        <a:t>MariaDB / MySQL + Prisma 7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1b1b1f"/>
                          </a:solidFill>
                          <a:effectLst/>
                          <a:uFillTx/>
                          <a:latin typeface="Calibri"/>
                        </a:rPr>
                        <a:t>Schema modeling, migrations, @prisma/adapter-mariadb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7280"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1b1b1f"/>
                          </a:solidFill>
                          <a:effectLst/>
                          <a:uFillTx/>
                          <a:latin typeface="Calibri"/>
                        </a:rPr>
                        <a:t>Validation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1b1b1f"/>
                          </a:solidFill>
                          <a:effectLst/>
                          <a:uFillTx/>
                          <a:latin typeface="Calibri"/>
                        </a:rPr>
                        <a:t>Zod 4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1b1b1f"/>
                          </a:solidFill>
                          <a:effectLst/>
                          <a:uFillTx/>
                          <a:latin typeface="Calibri"/>
                        </a:rPr>
                        <a:t>Runtime request-body validation, discriminated unions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</a:tr>
              <a:tr h="467280"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1b1b1f"/>
                          </a:solidFill>
                          <a:effectLst/>
                          <a:uFillTx/>
                          <a:latin typeface="Calibri"/>
                        </a:rPr>
                        <a:t>Security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1b1b1f"/>
                          </a:solidFill>
                          <a:effectLst/>
                          <a:uFillTx/>
                          <a:latin typeface="Calibri"/>
                        </a:rPr>
                        <a:t>Bycrypt.js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1b1b1f"/>
                          </a:solidFill>
                          <a:effectLst/>
                          <a:uFillTx/>
                          <a:latin typeface="Calibri"/>
                        </a:rPr>
                        <a:t>Unit + API route integration tests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"/>
          <p:cNvSpPr/>
          <p:nvPr/>
        </p:nvSpPr>
        <p:spPr>
          <a:xfrm>
            <a:off x="0" y="0"/>
            <a:ext cx="12190680" cy="127080"/>
          </a:xfrm>
          <a:prstGeom prst="rect">
            <a:avLst/>
          </a:prstGeom>
          <a:solidFill>
            <a:srgbClr val="2f6f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2"/>
          <p:cNvSpPr/>
          <p:nvPr/>
        </p:nvSpPr>
        <p:spPr>
          <a:xfrm>
            <a:off x="457200" y="6473880"/>
            <a:ext cx="112762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5b5b66"/>
                </a:solidFill>
                <a:effectLst/>
                <a:uFillTx/>
                <a:latin typeface="Calibri"/>
              </a:rPr>
              <a:t>IT 124  |  Capstone Project 2  |  Module 01 — System Design Refinement  |  Katuwang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3"/>
          <p:cNvSpPr/>
          <p:nvPr/>
        </p:nvSpPr>
        <p:spPr>
          <a:xfrm>
            <a:off x="548640" y="384120"/>
            <a:ext cx="10971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2f6fed"/>
                </a:solidFill>
                <a:effectLst/>
                <a:uFillTx/>
                <a:latin typeface="Calibri"/>
              </a:rPr>
              <a:t>4 · FINALIZED DATABASE SCHEMA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4"/>
          <p:cNvSpPr/>
          <p:nvPr/>
        </p:nvSpPr>
        <p:spPr>
          <a:xfrm>
            <a:off x="548640" y="713160"/>
            <a:ext cx="110631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rgbClr val="1b1b1f"/>
                </a:solidFill>
                <a:effectLst/>
                <a:uFillTx/>
                <a:latin typeface="Calibri"/>
              </a:rPr>
              <a:t>ERD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Rectangle 5"/>
          <p:cNvSpPr/>
          <p:nvPr/>
        </p:nvSpPr>
        <p:spPr>
          <a:xfrm>
            <a:off x="567000" y="1572840"/>
            <a:ext cx="1279080" cy="37080"/>
          </a:xfrm>
          <a:prstGeom prst="rect">
            <a:avLst/>
          </a:prstGeom>
          <a:solidFill>
            <a:srgbClr val="e88c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15"/>
          <p:cNvSpPr/>
          <p:nvPr/>
        </p:nvSpPr>
        <p:spPr>
          <a:xfrm>
            <a:off x="548640" y="5623560"/>
            <a:ext cx="110631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9" name="" descr=""/>
          <p:cNvPicPr/>
          <p:nvPr/>
        </p:nvPicPr>
        <p:blipFill>
          <a:blip r:embed="rId1"/>
          <a:stretch/>
        </p:blipFill>
        <p:spPr>
          <a:xfrm>
            <a:off x="4343400" y="685800"/>
            <a:ext cx="5981040" cy="5486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1"/>
          <p:cNvSpPr/>
          <p:nvPr/>
        </p:nvSpPr>
        <p:spPr>
          <a:xfrm>
            <a:off x="0" y="0"/>
            <a:ext cx="12190680" cy="127080"/>
          </a:xfrm>
          <a:prstGeom prst="rect">
            <a:avLst/>
          </a:prstGeom>
          <a:solidFill>
            <a:srgbClr val="2f6f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2"/>
          <p:cNvSpPr/>
          <p:nvPr/>
        </p:nvSpPr>
        <p:spPr>
          <a:xfrm>
            <a:off x="457200" y="6473880"/>
            <a:ext cx="112762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5b5b66"/>
                </a:solidFill>
                <a:effectLst/>
                <a:uFillTx/>
                <a:latin typeface="Calibri"/>
              </a:rPr>
              <a:t>IT 124  |  Capstone Project 2  |  Module 01 — System Design Refinement  |  Katuwang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3"/>
          <p:cNvSpPr/>
          <p:nvPr/>
        </p:nvSpPr>
        <p:spPr>
          <a:xfrm>
            <a:off x="548640" y="384120"/>
            <a:ext cx="10971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2f6fed"/>
                </a:solidFill>
                <a:effectLst/>
                <a:uFillTx/>
                <a:latin typeface="Calibri"/>
              </a:rPr>
              <a:t>6 · PROCESS &amp; DATA-FLOW DIAGRAMS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4"/>
          <p:cNvSpPr/>
          <p:nvPr/>
        </p:nvSpPr>
        <p:spPr>
          <a:xfrm>
            <a:off x="548640" y="713160"/>
            <a:ext cx="1106316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rgbClr val="1b1b1f"/>
                </a:solidFill>
                <a:effectLst/>
                <a:uFillTx/>
                <a:latin typeface="Calibri"/>
              </a:rPr>
              <a:t>Context diagram (Level 0)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Rectangle 5"/>
          <p:cNvSpPr/>
          <p:nvPr/>
        </p:nvSpPr>
        <p:spPr>
          <a:xfrm>
            <a:off x="685800" y="1333800"/>
            <a:ext cx="3885480" cy="37080"/>
          </a:xfrm>
          <a:prstGeom prst="rect">
            <a:avLst/>
          </a:prstGeom>
          <a:solidFill>
            <a:srgbClr val="e88c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16"/>
          <p:cNvSpPr/>
          <p:nvPr/>
        </p:nvSpPr>
        <p:spPr>
          <a:xfrm>
            <a:off x="548640" y="5760720"/>
            <a:ext cx="1106316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6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600200" y="1600200"/>
            <a:ext cx="7959600" cy="4571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1"/>
          <p:cNvSpPr/>
          <p:nvPr/>
        </p:nvSpPr>
        <p:spPr>
          <a:xfrm>
            <a:off x="0" y="0"/>
            <a:ext cx="12190680" cy="127080"/>
          </a:xfrm>
          <a:prstGeom prst="rect">
            <a:avLst/>
          </a:prstGeom>
          <a:solidFill>
            <a:srgbClr val="2f6f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2"/>
          <p:cNvSpPr/>
          <p:nvPr/>
        </p:nvSpPr>
        <p:spPr>
          <a:xfrm>
            <a:off x="457200" y="6473880"/>
            <a:ext cx="112762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5b5b66"/>
                </a:solidFill>
                <a:effectLst/>
                <a:uFillTx/>
                <a:latin typeface="Calibri"/>
              </a:rPr>
              <a:t>IT 124  |  Capstone Project 2  |  Module 01 — System Design Refinement  |  Katuwang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3"/>
          <p:cNvSpPr/>
          <p:nvPr/>
        </p:nvSpPr>
        <p:spPr>
          <a:xfrm>
            <a:off x="548640" y="384120"/>
            <a:ext cx="10971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2f6fed"/>
                </a:solidFill>
                <a:effectLst/>
                <a:uFillTx/>
                <a:latin typeface="Calibri"/>
              </a:rPr>
              <a:t>6 · PROCESS &amp; DATA-FLOW DIAGRAMS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4"/>
          <p:cNvSpPr/>
          <p:nvPr/>
        </p:nvSpPr>
        <p:spPr>
          <a:xfrm>
            <a:off x="548640" y="713160"/>
            <a:ext cx="110631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rgbClr val="1b1b1f"/>
                </a:solidFill>
                <a:effectLst/>
                <a:uFillTx/>
                <a:latin typeface="Calibri"/>
              </a:rPr>
              <a:t>Level 1 DFD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ectangle 5"/>
          <p:cNvSpPr/>
          <p:nvPr/>
        </p:nvSpPr>
        <p:spPr>
          <a:xfrm>
            <a:off x="567000" y="1572840"/>
            <a:ext cx="1279080" cy="37080"/>
          </a:xfrm>
          <a:prstGeom prst="rect">
            <a:avLst/>
          </a:prstGeom>
          <a:solidFill>
            <a:srgbClr val="e88c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3081600" y="1331280"/>
            <a:ext cx="7117200" cy="5142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Application>LibreOffice/25.2.3.2$Linux_X86_64 LibreOffice_project/520$Build-2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2026-09-08T11:45:09Z</dcterms:modified>
  <cp:revision>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