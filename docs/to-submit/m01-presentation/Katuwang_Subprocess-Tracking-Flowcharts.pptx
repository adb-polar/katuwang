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subprocess per role, tracked step by step with the data store each step touches. Source: assets/DFD.md, process 5.0 and stores DS1/DS2/DS5/DS6/DS7/DS10.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assets/DFD.md, process 3.0; stores DS3 (certifications), DS4 (question bank &amp; attempts), DS12 (assessment settings), DS10 (notifications).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assets/DFD.md, process 2.0 (registration-review Level-2); stores DS1 (users), DS11 (audit log), DS10 (notifications). Decline-with-no-notification is the deliberate behaviour recorded in docs/reference/decisions.md.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F6FED"/>
                </a:solidFill>
                <a:latin typeface="Calibri"/>
              </a:rPr>
              <a:t>STUDENT LEARNER  ·  SUBPROCESS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B1B1F"/>
                </a:solidFill>
                <a:latin typeface="Calibri"/>
              </a:rPr>
              <a:t>Class Discovery &amp; Enrolment  (DFD process 5.0)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280160" cy="38100"/>
          </a:xfrm>
          <a:prstGeom prst="rect">
            <a:avLst/>
          </a:prstGeom>
          <a:solidFill>
            <a:srgbClr val="E8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975104"/>
            <a:ext cx="3401568" cy="713232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17780">
            <a:solidFill>
              <a:srgbClr val="5B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1B1B1F"/>
                </a:solidFill>
                <a:latin typeface="Calibri"/>
              </a:rPr>
              <a:t>START — learner submits match criteria</a:t>
            </a:r>
          </a:p>
          <a:p>
            <a:pPr algn="ctr"/>
            <a:r>
              <a:rPr sz="800" b="0" i="1">
                <a:solidFill>
                  <a:srgbClr val="5B5B66"/>
                </a:solidFill>
                <a:latin typeface="Calibri"/>
              </a:rPr>
              <a:t>subject · topics · grade · slots  ·  /learner/match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999232"/>
            <a:ext cx="3401568" cy="786384"/>
          </a:xfrm>
          <a:prstGeom prst="rect">
            <a:avLst/>
          </a:prstGeom>
          <a:solidFill>
            <a:srgbClr val="EEF3FE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 i="0">
                <a:solidFill>
                  <a:srgbClr val="1B1B1F"/>
                </a:solidFill>
                <a:latin typeface="Calibri"/>
              </a:rPr>
              <a:t>Load candidate open classes, topic list &amp; tutor directory</a:t>
            </a:r>
          </a:p>
          <a:p>
            <a:pPr algn="ctr"/>
            <a:r>
              <a:rPr sz="800" b="0" i="1">
                <a:solidFill>
                  <a:srgbClr val="B56612"/>
                </a:solidFill>
                <a:latin typeface="Calibri"/>
              </a:rPr>
              <a:t>reads DS5 · DS2 · DS1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023360"/>
            <a:ext cx="3401568" cy="786384"/>
          </a:xfrm>
          <a:prstGeom prst="rect">
            <a:avLst/>
          </a:prstGeom>
          <a:solidFill>
            <a:srgbClr val="EEF3FE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 i="0">
                <a:solidFill>
                  <a:srgbClr val="1B1B1F"/>
                </a:solidFill>
                <a:latin typeface="Calibri"/>
              </a:rPr>
              <a:t>rankMatches() scores every class — topic overlap, certified-topic bonus, grade fit, schedule fit</a:t>
            </a:r>
          </a:p>
          <a:p>
            <a:pPr algn="ctr"/>
            <a:r>
              <a:rPr sz="800" b="0" i="1">
                <a:solidFill>
                  <a:srgbClr val="5B5B66"/>
                </a:solidFill>
                <a:latin typeface="Calibri"/>
              </a:rPr>
              <a:t>src/lib/matching.ts</a:t>
            </a:r>
          </a:p>
        </p:txBody>
      </p:sp>
      <p:sp>
        <p:nvSpPr>
          <p:cNvPr id="9" name="Hexagon 8"/>
          <p:cNvSpPr/>
          <p:nvPr/>
        </p:nvSpPr>
        <p:spPr>
          <a:xfrm>
            <a:off x="502920" y="5047488"/>
            <a:ext cx="3401568" cy="859536"/>
          </a:xfrm>
          <a:prstGeom prst="hexagon">
            <a:avLst/>
          </a:prstGeom>
          <a:solidFill>
            <a:srgbClr val="FCF3E6"/>
          </a:solidFill>
          <a:ln w="17780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B56612"/>
                </a:solidFill>
                <a:latin typeface="Calibri"/>
              </a:rPr>
              <a:t>Any class scores well enough?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975104"/>
            <a:ext cx="3401568" cy="786384"/>
          </a:xfrm>
          <a:prstGeom prst="rect">
            <a:avLst/>
          </a:prstGeom>
          <a:solidFill>
            <a:srgbClr val="EEF3FE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 i="0">
                <a:solidFill>
                  <a:srgbClr val="1B1B1F"/>
                </a:solidFill>
                <a:latin typeface="Calibri"/>
              </a:rPr>
              <a:t>Learner posts a Class Request (topics + availability slots)</a:t>
            </a:r>
          </a:p>
          <a:p>
            <a:pPr algn="ctr"/>
            <a:r>
              <a:rPr sz="800" b="0" i="1">
                <a:solidFill>
                  <a:srgbClr val="B56612"/>
                </a:solidFill>
                <a:latin typeface="Calibri"/>
              </a:rPr>
              <a:t>writes DS7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2999232"/>
            <a:ext cx="3401568" cy="713232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17780">
            <a:solidFill>
              <a:srgbClr val="5B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1B1B1F"/>
                </a:solidFill>
                <a:latin typeface="Calibri"/>
              </a:rPr>
              <a:t>END — request is OPEN, awaiting a tutor to accept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4023360"/>
            <a:ext cx="3401568" cy="786384"/>
          </a:xfrm>
          <a:prstGeom prst="rect">
            <a:avLst/>
          </a:prstGeom>
          <a:solidFill>
            <a:srgbClr val="EEF3FE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 i="0">
                <a:solidFill>
                  <a:srgbClr val="1B1B1F"/>
                </a:solidFill>
                <a:latin typeface="Calibri"/>
              </a:rPr>
              <a:t>Learner picks a ranked class and requests enrolment</a:t>
            </a:r>
          </a:p>
          <a:p>
            <a:pPr algn="ctr"/>
            <a:r>
              <a:rPr sz="800" b="0" i="1">
                <a:solidFill>
                  <a:srgbClr val="5B5B66"/>
                </a:solidFill>
                <a:latin typeface="Calibri"/>
              </a:rPr>
              <a:t>/api/classes/[classId]/enroll</a:t>
            </a:r>
          </a:p>
        </p:txBody>
      </p:sp>
      <p:sp>
        <p:nvSpPr>
          <p:cNvPr id="13" name="Hexagon 12"/>
          <p:cNvSpPr/>
          <p:nvPr/>
        </p:nvSpPr>
        <p:spPr>
          <a:xfrm>
            <a:off x="4224528" y="5047488"/>
            <a:ext cx="3401568" cy="859536"/>
          </a:xfrm>
          <a:prstGeom prst="hexagon">
            <a:avLst/>
          </a:prstGeom>
          <a:solidFill>
            <a:srgbClr val="FCF3E6"/>
          </a:solidFill>
          <a:ln w="17780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B56612"/>
                </a:solidFill>
                <a:latin typeface="Calibri"/>
              </a:rPr>
              <a:t>Seat free?  (enrolled &lt; capacity)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36992" y="1975104"/>
            <a:ext cx="3749039" cy="786384"/>
          </a:xfrm>
          <a:prstGeom prst="rect">
            <a:avLst/>
          </a:prstGeom>
          <a:solidFill>
            <a:srgbClr val="EEF3FE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 i="0">
                <a:solidFill>
                  <a:srgbClr val="1B1B1F"/>
                </a:solidFill>
                <a:latin typeface="Calibri"/>
              </a:rPr>
              <a:t>Write ClassEnrollment row</a:t>
            </a:r>
          </a:p>
          <a:p>
            <a:pPr algn="ctr"/>
            <a:r>
              <a:rPr sz="800" b="0" i="1">
                <a:solidFill>
                  <a:srgbClr val="B56612"/>
                </a:solidFill>
                <a:latin typeface="Calibri"/>
              </a:rPr>
              <a:t>writes DS6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6992" y="2999232"/>
            <a:ext cx="3749039" cy="786384"/>
          </a:xfrm>
          <a:prstGeom prst="rect">
            <a:avLst/>
          </a:prstGeom>
          <a:solidFill>
            <a:srgbClr val="EEF3FE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 i="0">
                <a:solidFill>
                  <a:srgbClr val="1B1B1F"/>
                </a:solidFill>
                <a:latin typeface="Calibri"/>
              </a:rPr>
              <a:t>Emit new-enrolment notice to the tutor</a:t>
            </a:r>
          </a:p>
          <a:p>
            <a:pPr algn="ctr"/>
            <a:r>
              <a:rPr sz="800" b="0" i="1">
                <a:solidFill>
                  <a:srgbClr val="B56612"/>
                </a:solidFill>
                <a:latin typeface="Calibri"/>
              </a:rPr>
              <a:t>writes DS10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4023360"/>
            <a:ext cx="3749039" cy="713232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17780">
            <a:solidFill>
              <a:srgbClr val="5B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1B1B1F"/>
                </a:solidFill>
                <a:latin typeface="Calibri"/>
              </a:rPr>
              <a:t>END — learner enrolled; class shows in My Classes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03704" y="2688336"/>
            <a:ext cx="0" cy="310896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03704" y="3785616"/>
            <a:ext cx="0" cy="237744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03704" y="4809744"/>
            <a:ext cx="0" cy="237744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04488" y="5477256"/>
            <a:ext cx="2020824" cy="0"/>
          </a:xfrm>
          <a:prstGeom prst="line">
            <a:avLst/>
          </a:prstGeom>
          <a:ln w="20320">
            <a:solidFill>
              <a:srgbClr val="5B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925312" y="1975104"/>
            <a:ext cx="0" cy="3502152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951476" y="5202936"/>
            <a:ext cx="658368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 i="0">
                <a:solidFill>
                  <a:srgbClr val="1E4CA8"/>
                </a:solidFill>
                <a:latin typeface="Calibri"/>
              </a:rPr>
              <a:t>NO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25312" y="2761488"/>
            <a:ext cx="0" cy="237744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904488" y="4416552"/>
            <a:ext cx="0" cy="1060704"/>
          </a:xfrm>
          <a:prstGeom prst="line">
            <a:avLst/>
          </a:prstGeom>
          <a:ln w="20320">
            <a:solidFill>
              <a:srgbClr val="5B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04488" y="4416552"/>
            <a:ext cx="320040" cy="0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941064" y="4142232"/>
            <a:ext cx="658368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 i="0">
                <a:solidFill>
                  <a:srgbClr val="1E4CA8"/>
                </a:solidFill>
                <a:latin typeface="Calibri"/>
              </a:rPr>
              <a:t>YES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25312" y="4809744"/>
            <a:ext cx="0" cy="237744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6096" y="5477256"/>
            <a:ext cx="2185415" cy="0"/>
          </a:xfrm>
          <a:prstGeom prst="line">
            <a:avLst/>
          </a:prstGeom>
          <a:ln w="20320">
            <a:solidFill>
              <a:srgbClr val="5B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811511" y="1975104"/>
            <a:ext cx="0" cy="3502152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755379" y="5202936"/>
            <a:ext cx="658368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 i="0">
                <a:solidFill>
                  <a:srgbClr val="1E4CA8"/>
                </a:solidFill>
                <a:latin typeface="Calibri"/>
              </a:rPr>
              <a:t>YES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11511" y="2761488"/>
            <a:ext cx="0" cy="237744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11511" y="3785616"/>
            <a:ext cx="0" cy="237744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224528" y="4416552"/>
            <a:ext cx="0" cy="1060704"/>
          </a:xfrm>
          <a:prstGeom prst="line">
            <a:avLst/>
          </a:prstGeom>
          <a:ln w="20320">
            <a:solidFill>
              <a:srgbClr val="5B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224528" y="4416552"/>
            <a:ext cx="0" cy="0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261104" y="4142232"/>
            <a:ext cx="658368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 i="0">
                <a:solidFill>
                  <a:srgbClr val="1E4CA8"/>
                </a:solidFill>
                <a:latin typeface="Calibri"/>
              </a:rPr>
              <a:t>FULL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035040"/>
            <a:ext cx="11201400" cy="31750"/>
          </a:xfrm>
          <a:prstGeom prst="rect">
            <a:avLst/>
          </a:prstGeom>
          <a:solidFill>
            <a:srgbClr val="E8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163056"/>
            <a:ext cx="112014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5B5B66"/>
                </a:solidFill>
                <a:latin typeface="Calibri"/>
              </a:rPr>
              <a:t>HOW TO READ  ·  rounded = start / end   ·   blue = system step   ·   amber hexagon = decision   ·   (DSn) = data store read or written</a:t>
            </a:r>
          </a:p>
          <a:p>
            <a:pPr algn="l"/>
            <a:r>
              <a:rPr sz="1050" b="0" i="0">
                <a:solidFill>
                  <a:srgbClr val="1B1B1F"/>
                </a:solidFill>
                <a:latin typeface="Calibri"/>
              </a:rPr>
              <a:t>The learner's discovery-and-enrolment subprocess. Match criteria are scored against every open class by rankMatches(); a strong match leads to a capacity-checked enrolment that writes ClassEnrollment (DS6) and notifies the tutor (DS10). When nothing scores well the learner is routed to post a Class Request (DS7) instead of hitting a dead end; a full class sends them back to pick another.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F6FED"/>
                </a:solidFill>
                <a:latin typeface="Calibri"/>
              </a:rPr>
              <a:t>STUDENT TUTOR  ·  SUBPROCESS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B1B1F"/>
                </a:solidFill>
                <a:latin typeface="Calibri"/>
              </a:rPr>
              <a:t>Tutor Topic Certification  (DFD process 3.0)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280160" cy="38100"/>
          </a:xfrm>
          <a:prstGeom prst="rect">
            <a:avLst/>
          </a:prstGeom>
          <a:solidFill>
            <a:srgbClr val="E8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975104"/>
            <a:ext cx="3401568" cy="713232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17780">
            <a:solidFill>
              <a:srgbClr val="5B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1B1B1F"/>
                </a:solidFill>
                <a:latin typeface="Calibri"/>
              </a:rPr>
              <a:t>START — tutor requests certification for one (subject, topic)</a:t>
            </a:r>
          </a:p>
          <a:p>
            <a:pPr algn="ctr"/>
            <a:r>
              <a:rPr sz="800" b="0" i="1">
                <a:solidFill>
                  <a:srgbClr val="5B5B66"/>
                </a:solidFill>
                <a:latin typeface="Calibri"/>
              </a:rPr>
              <a:t>/tutor/assessments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999232"/>
            <a:ext cx="3401568" cy="786384"/>
          </a:xfrm>
          <a:prstGeom prst="rect">
            <a:avLst/>
          </a:prstGeom>
          <a:solidFill>
            <a:srgbClr val="EEF3FE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 i="0">
                <a:solidFill>
                  <a:srgbClr val="1B1B1F"/>
                </a:solidFill>
                <a:latin typeface="Calibri"/>
              </a:rPr>
              <a:t>Create TopicCertification row — status = PENDING</a:t>
            </a:r>
          </a:p>
          <a:p>
            <a:pPr algn="ctr"/>
            <a:r>
              <a:rPr sz="800" b="0" i="1">
                <a:solidFill>
                  <a:srgbClr val="B56612"/>
                </a:solidFill>
                <a:latin typeface="Calibri"/>
              </a:rPr>
              <a:t>writes DS3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023360"/>
            <a:ext cx="3401568" cy="786384"/>
          </a:xfrm>
          <a:prstGeom prst="rect">
            <a:avLst/>
          </a:prstGeom>
          <a:solidFill>
            <a:srgbClr val="EEF3FE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 i="0">
                <a:solidFill>
                  <a:srgbClr val="1B1B1F"/>
                </a:solidFill>
                <a:latin typeface="Calibri"/>
              </a:rPr>
              <a:t>Sit qualifying quiz — questions drawn from the bank (origin = BANK); pass % read from settings</a:t>
            </a:r>
          </a:p>
          <a:p>
            <a:pPr algn="ctr"/>
            <a:r>
              <a:rPr sz="800" b="0" i="1">
                <a:solidFill>
                  <a:srgbClr val="B56612"/>
                </a:solidFill>
                <a:latin typeface="Calibri"/>
              </a:rPr>
              <a:t>reads DS4 · DS12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047488"/>
            <a:ext cx="3401568" cy="786384"/>
          </a:xfrm>
          <a:prstGeom prst="rect">
            <a:avLst/>
          </a:prstGeom>
          <a:solidFill>
            <a:srgbClr val="EEF3FE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 i="0">
                <a:solidFill>
                  <a:srgbClr val="1B1B1F"/>
                </a:solidFill>
                <a:latin typeface="Calibri"/>
              </a:rPr>
              <a:t>Submit → auto-grade; record AssessmentAttempt + items</a:t>
            </a:r>
          </a:p>
          <a:p>
            <a:pPr algn="ctr"/>
            <a:r>
              <a:rPr sz="800" b="0" i="1">
                <a:solidFill>
                  <a:srgbClr val="B56612"/>
                </a:solidFill>
                <a:latin typeface="Calibri"/>
              </a:rPr>
              <a:t>writes DS4</a:t>
            </a:r>
          </a:p>
        </p:txBody>
      </p:sp>
      <p:sp>
        <p:nvSpPr>
          <p:cNvPr id="10" name="Hexagon 9"/>
          <p:cNvSpPr/>
          <p:nvPr/>
        </p:nvSpPr>
        <p:spPr>
          <a:xfrm>
            <a:off x="4224528" y="1975104"/>
            <a:ext cx="3401568" cy="859536"/>
          </a:xfrm>
          <a:prstGeom prst="hexagon">
            <a:avLst/>
          </a:prstGeom>
          <a:solidFill>
            <a:srgbClr val="FCF3E6"/>
          </a:solidFill>
          <a:ln w="17780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B56612"/>
                </a:solidFill>
                <a:latin typeface="Calibri"/>
              </a:rPr>
              <a:t>Score ≥ pass %?</a:t>
            </a:r>
          </a:p>
        </p:txBody>
      </p:sp>
      <p:sp>
        <p:nvSpPr>
          <p:cNvPr id="11" name="Hexagon 10"/>
          <p:cNvSpPr/>
          <p:nvPr/>
        </p:nvSpPr>
        <p:spPr>
          <a:xfrm>
            <a:off x="4224528" y="2999232"/>
            <a:ext cx="3401568" cy="859536"/>
          </a:xfrm>
          <a:prstGeom prst="hexagon">
            <a:avLst/>
          </a:prstGeom>
          <a:solidFill>
            <a:srgbClr val="FCF3E6"/>
          </a:solidFill>
          <a:ln w="17780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B56612"/>
                </a:solidFill>
                <a:latin typeface="Calibri"/>
              </a:rPr>
              <a:t>autoCertify setting 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4023360"/>
            <a:ext cx="3401568" cy="786384"/>
          </a:xfrm>
          <a:prstGeom prst="rect">
            <a:avLst/>
          </a:prstGeom>
          <a:solidFill>
            <a:srgbClr val="EEF3FE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 i="0">
                <a:solidFill>
                  <a:srgbClr val="1B1B1F"/>
                </a:solidFill>
                <a:latin typeface="Calibri"/>
              </a:rPr>
              <a:t>Admin reviews the attempt → certify / reject + note</a:t>
            </a:r>
          </a:p>
          <a:p>
            <a:pPr algn="ctr"/>
            <a:r>
              <a:rPr sz="800" b="0" i="1">
                <a:solidFill>
                  <a:srgbClr val="5B5B66"/>
                </a:solidFill>
                <a:latin typeface="Calibri"/>
              </a:rPr>
              <a:t>Admin ▸ Assessment ▸ Certifications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5047488"/>
            <a:ext cx="3401568" cy="713232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17780">
            <a:solidFill>
              <a:srgbClr val="5B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1B1B1F"/>
                </a:solidFill>
                <a:latin typeface="Calibri"/>
              </a:rPr>
              <a:t>END — not passed; tutor may retake the quiz later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36992" y="1975104"/>
            <a:ext cx="3749039" cy="786384"/>
          </a:xfrm>
          <a:prstGeom prst="rect">
            <a:avLst/>
          </a:prstGeom>
          <a:solidFill>
            <a:srgbClr val="EEF3FE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 i="0">
                <a:solidFill>
                  <a:srgbClr val="1B1B1F"/>
                </a:solidFill>
                <a:latin typeface="Calibri"/>
              </a:rPr>
              <a:t>TopicCertification → CERTIFIED / REJECTED  +  certification-decided notice</a:t>
            </a:r>
          </a:p>
          <a:p>
            <a:pPr algn="ctr"/>
            <a:r>
              <a:rPr sz="800" b="0" i="1">
                <a:solidFill>
                  <a:srgbClr val="B56612"/>
                </a:solidFill>
                <a:latin typeface="Calibri"/>
              </a:rPr>
              <a:t>writes DS3 · DS10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2999232"/>
            <a:ext cx="3749039" cy="713232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17780">
            <a:solidFill>
              <a:srgbClr val="5B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1B1B1F"/>
                </a:solidFill>
                <a:latin typeface="Calibri"/>
              </a:rPr>
              <a:t>END — CERTIFIED: tutor may open a class for that topic (eligibility gate into process 4.0)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03704" y="2688336"/>
            <a:ext cx="0" cy="310896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03704" y="3785616"/>
            <a:ext cx="0" cy="237744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03704" y="4809744"/>
            <a:ext cx="0" cy="237744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904488" y="2404872"/>
            <a:ext cx="0" cy="3035808"/>
          </a:xfrm>
          <a:prstGeom prst="line">
            <a:avLst/>
          </a:prstGeom>
          <a:ln w="20320">
            <a:solidFill>
              <a:srgbClr val="5B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04488" y="2404872"/>
            <a:ext cx="320040" cy="0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25312" y="2834640"/>
            <a:ext cx="0" cy="164592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971032" y="2798064"/>
            <a:ext cx="658368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 i="0">
                <a:solidFill>
                  <a:srgbClr val="1E4CA8"/>
                </a:solidFill>
                <a:latin typeface="Calibri"/>
              </a:rPr>
              <a:t>YES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26096" y="2404872"/>
            <a:ext cx="0" cy="2999232"/>
          </a:xfrm>
          <a:prstGeom prst="line">
            <a:avLst/>
          </a:prstGeom>
          <a:ln w="20320">
            <a:solidFill>
              <a:srgbClr val="5B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26096" y="5404104"/>
            <a:ext cx="0" cy="0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662672" y="5129784"/>
            <a:ext cx="658368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 i="0">
                <a:solidFill>
                  <a:srgbClr val="1E4CA8"/>
                </a:solidFill>
                <a:latin typeface="Calibri"/>
              </a:rPr>
              <a:t>NO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25312" y="3858768"/>
            <a:ext cx="0" cy="164592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971032" y="3822192"/>
            <a:ext cx="658368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 i="0">
                <a:solidFill>
                  <a:srgbClr val="1E4CA8"/>
                </a:solidFill>
                <a:latin typeface="Calibri"/>
              </a:rPr>
              <a:t>NO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26096" y="3429000"/>
            <a:ext cx="2185415" cy="0"/>
          </a:xfrm>
          <a:prstGeom prst="line">
            <a:avLst/>
          </a:prstGeom>
          <a:ln w="20320">
            <a:solidFill>
              <a:srgbClr val="5B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811511" y="1975104"/>
            <a:ext cx="0" cy="1453896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755379" y="3154680"/>
            <a:ext cx="658368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 i="0">
                <a:solidFill>
                  <a:srgbClr val="1E4CA8"/>
                </a:solidFill>
                <a:latin typeface="Calibri"/>
              </a:rPr>
              <a:t>YES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626096" y="4416552"/>
            <a:ext cx="310896" cy="0"/>
          </a:xfrm>
          <a:prstGeom prst="line">
            <a:avLst/>
          </a:prstGeom>
          <a:ln w="20320">
            <a:solidFill>
              <a:srgbClr val="5B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936992" y="2368296"/>
            <a:ext cx="0" cy="2048256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811511" y="2761488"/>
            <a:ext cx="0" cy="237744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02920" y="6035040"/>
            <a:ext cx="11201400" cy="31750"/>
          </a:xfrm>
          <a:prstGeom prst="rect">
            <a:avLst/>
          </a:prstGeom>
          <a:solidFill>
            <a:srgbClr val="E8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163056"/>
            <a:ext cx="112014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5B5B66"/>
                </a:solidFill>
                <a:latin typeface="Calibri"/>
              </a:rPr>
              <a:t>HOW TO READ  ·  rounded = start / end   ·   blue = system step   ·   amber hexagon = decision   ·   (DSn) = data store read or written</a:t>
            </a:r>
          </a:p>
          <a:p>
            <a:pPr algn="l"/>
            <a:r>
              <a:rPr sz="1050" b="0" i="0">
                <a:solidFill>
                  <a:srgbClr val="1B1B1F"/>
                </a:solidFill>
                <a:latin typeface="Calibri"/>
              </a:rPr>
              <a:t>The tutor's per-topic certification subprocess. A PENDING TopicCertification (DS3) is raised, the tutor sits a bank-drawn qualifying quiz graded against the configured pass % (DS4 · DS12), and the row resolves to CERTIFIED or REJECTED — automatically when autoCertify is on, otherwise on admin review. A CERTIFIED row (DS3) is the eligibility gate that later lets the tutor open a class for that topic; a notice is written to DS10.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F6FED"/>
                </a:solidFill>
                <a:latin typeface="Calibri"/>
              </a:rPr>
              <a:t>ADMINISTRATOR  ·  SUBPROCESS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B1B1F"/>
                </a:solidFill>
                <a:latin typeface="Calibri"/>
              </a:rPr>
              <a:t>Tutor Registration Review  (Level-2 of DFD process 2.0)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280160" cy="38100"/>
          </a:xfrm>
          <a:prstGeom prst="rect">
            <a:avLst/>
          </a:prstGeom>
          <a:solidFill>
            <a:srgbClr val="E8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975104"/>
            <a:ext cx="3401568" cy="713232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17780">
            <a:solidFill>
              <a:srgbClr val="5B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1B1B1F"/>
                </a:solidFill>
                <a:latin typeface="Calibri"/>
              </a:rPr>
              <a:t>START — tutor submits application → account created, status = PENDING</a:t>
            </a:r>
          </a:p>
          <a:p>
            <a:pPr algn="ctr"/>
            <a:r>
              <a:rPr sz="800" b="0" i="1">
                <a:solidFill>
                  <a:srgbClr val="B56612"/>
                </a:solidFill>
                <a:latin typeface="Calibri"/>
              </a:rPr>
              <a:t>writes DS1 · cannot sign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999232"/>
            <a:ext cx="3401568" cy="786384"/>
          </a:xfrm>
          <a:prstGeom prst="rect">
            <a:avLst/>
          </a:prstGeom>
          <a:solidFill>
            <a:srgbClr val="EEF3FE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 i="0">
                <a:solidFill>
                  <a:srgbClr val="1B1B1F"/>
                </a:solidFill>
                <a:latin typeface="Calibri"/>
              </a:rPr>
              <a:t>Admin opens the Registration Approvals queue</a:t>
            </a:r>
          </a:p>
          <a:p>
            <a:pPr algn="ctr"/>
            <a:r>
              <a:rPr sz="800" b="0" i="1">
                <a:solidFill>
                  <a:srgbClr val="B56612"/>
                </a:solidFill>
                <a:latin typeface="Calibri"/>
              </a:rPr>
              <a:t>reads DS1 · /admin/registrations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023360"/>
            <a:ext cx="3401568" cy="786384"/>
          </a:xfrm>
          <a:prstGeom prst="rect">
            <a:avLst/>
          </a:prstGeom>
          <a:solidFill>
            <a:srgbClr val="EEF3FE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 i="0">
                <a:solidFill>
                  <a:srgbClr val="1B1B1F"/>
                </a:solidFill>
                <a:latin typeface="Calibri"/>
              </a:rPr>
              <a:t>Review applicant — grade, section, applied subjects</a:t>
            </a:r>
          </a:p>
        </p:txBody>
      </p:sp>
      <p:sp>
        <p:nvSpPr>
          <p:cNvPr id="9" name="Hexagon 8"/>
          <p:cNvSpPr/>
          <p:nvPr/>
        </p:nvSpPr>
        <p:spPr>
          <a:xfrm>
            <a:off x="502920" y="5047488"/>
            <a:ext cx="3401568" cy="859536"/>
          </a:xfrm>
          <a:prstGeom prst="hexagon">
            <a:avLst/>
          </a:prstGeom>
          <a:solidFill>
            <a:srgbClr val="FCF3E6"/>
          </a:solidFill>
          <a:ln w="17780">
            <a:solidFill>
              <a:srgbClr val="E88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B56612"/>
                </a:solidFill>
                <a:latin typeface="Calibri"/>
              </a:rPr>
              <a:t>Approve the application?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975104"/>
            <a:ext cx="3401568" cy="786384"/>
          </a:xfrm>
          <a:prstGeom prst="rect">
            <a:avLst/>
          </a:prstGeom>
          <a:solidFill>
            <a:srgbClr val="EEF3FE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 i="0">
                <a:solidFill>
                  <a:srgbClr val="1B1B1F"/>
                </a:solidFill>
                <a:latin typeface="Calibri"/>
              </a:rPr>
              <a:t>status → ACTIVE</a:t>
            </a:r>
          </a:p>
          <a:p>
            <a:pPr algn="ctr"/>
            <a:r>
              <a:rPr sz="800" b="0" i="1">
                <a:solidFill>
                  <a:srgbClr val="B56612"/>
                </a:solidFill>
                <a:latin typeface="Calibri"/>
              </a:rPr>
              <a:t>writes DS1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4528" y="2999232"/>
            <a:ext cx="3401568" cy="786384"/>
          </a:xfrm>
          <a:prstGeom prst="rect">
            <a:avLst/>
          </a:prstGeom>
          <a:solidFill>
            <a:srgbClr val="EEF3FE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 i="0">
                <a:solidFill>
                  <a:srgbClr val="1B1B1F"/>
                </a:solidFill>
                <a:latin typeface="Calibri"/>
              </a:rPr>
              <a:t>Write Audit Log entry  +  REGISTRATION_APPROVED notice</a:t>
            </a:r>
          </a:p>
          <a:p>
            <a:pPr algn="ctr"/>
            <a:r>
              <a:rPr sz="800" b="0" i="1">
                <a:solidFill>
                  <a:srgbClr val="B56612"/>
                </a:solidFill>
                <a:latin typeface="Calibri"/>
              </a:rPr>
              <a:t>writes DS11 · DS10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4023360"/>
            <a:ext cx="3401568" cy="713232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17780">
            <a:solidFill>
              <a:srgbClr val="5B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1B1B1F"/>
                </a:solidFill>
                <a:latin typeface="Calibri"/>
              </a:rPr>
              <a:t>END — applicant can now sign 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36992" y="1975104"/>
            <a:ext cx="3749039" cy="786384"/>
          </a:xfrm>
          <a:prstGeom prst="rect">
            <a:avLst/>
          </a:prstGeom>
          <a:solidFill>
            <a:srgbClr val="EEF3FE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 i="0">
                <a:solidFill>
                  <a:srgbClr val="1B1B1F"/>
                </a:solidFill>
                <a:latin typeface="Calibri"/>
              </a:rPr>
              <a:t>status → DECLINED  +  reason</a:t>
            </a:r>
          </a:p>
          <a:p>
            <a:pPr algn="ctr"/>
            <a:r>
              <a:rPr sz="800" b="0" i="1">
                <a:solidFill>
                  <a:srgbClr val="B56612"/>
                </a:solidFill>
                <a:latin typeface="Calibri"/>
              </a:rPr>
              <a:t>writes DS1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36992" y="2999232"/>
            <a:ext cx="3749039" cy="786384"/>
          </a:xfrm>
          <a:prstGeom prst="rect">
            <a:avLst/>
          </a:prstGeom>
          <a:solidFill>
            <a:srgbClr val="EEF3FE"/>
          </a:solidFill>
          <a:ln w="1778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0" i="0">
                <a:solidFill>
                  <a:srgbClr val="1B1B1F"/>
                </a:solidFill>
                <a:latin typeface="Calibri"/>
              </a:rPr>
              <a:t>Write Audit Log entry  (no notification — by design)</a:t>
            </a:r>
          </a:p>
          <a:p>
            <a:pPr algn="ctr"/>
            <a:r>
              <a:rPr sz="800" b="0" i="1">
                <a:solidFill>
                  <a:srgbClr val="B56612"/>
                </a:solidFill>
                <a:latin typeface="Calibri"/>
              </a:rPr>
              <a:t>writes DS11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4023360"/>
            <a:ext cx="3749039" cy="713232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17780">
            <a:solidFill>
              <a:srgbClr val="5B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1B1B1F"/>
                </a:solidFill>
                <a:latin typeface="Calibri"/>
              </a:rPr>
              <a:t>END — reason shown on the /account-declined screen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03704" y="2688336"/>
            <a:ext cx="0" cy="310896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03704" y="3785616"/>
            <a:ext cx="0" cy="237744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03704" y="4809744"/>
            <a:ext cx="0" cy="237744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904488" y="5477256"/>
            <a:ext cx="2020824" cy="0"/>
          </a:xfrm>
          <a:prstGeom prst="line">
            <a:avLst/>
          </a:prstGeom>
          <a:ln w="20320">
            <a:solidFill>
              <a:srgbClr val="5B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925312" y="1975104"/>
            <a:ext cx="0" cy="3502152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951476" y="5202936"/>
            <a:ext cx="658368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 i="0">
                <a:solidFill>
                  <a:srgbClr val="1E4CA8"/>
                </a:solidFill>
                <a:latin typeface="Calibri"/>
              </a:rPr>
              <a:t>YES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25312" y="2761488"/>
            <a:ext cx="0" cy="237744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25312" y="3785616"/>
            <a:ext cx="0" cy="237744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04488" y="5477256"/>
            <a:ext cx="5907023" cy="0"/>
          </a:xfrm>
          <a:prstGeom prst="line">
            <a:avLst/>
          </a:prstGeom>
          <a:ln w="20320">
            <a:solidFill>
              <a:srgbClr val="5B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811511" y="1975104"/>
            <a:ext cx="0" cy="3502152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894575" y="5202936"/>
            <a:ext cx="658368" cy="2560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0" bIns="0"/>
          <a:lstStyle/>
          <a:p>
            <a:pPr algn="ctr"/>
            <a:r>
              <a:rPr sz="800" b="1" i="0">
                <a:solidFill>
                  <a:srgbClr val="1E4CA8"/>
                </a:solidFill>
                <a:latin typeface="Calibri"/>
              </a:rPr>
              <a:t>NO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11511" y="2761488"/>
            <a:ext cx="0" cy="237744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811511" y="3785616"/>
            <a:ext cx="0" cy="237744"/>
          </a:xfrm>
          <a:prstGeom prst="line">
            <a:avLst/>
          </a:prstGeom>
          <a:ln w="20320">
            <a:solidFill>
              <a:srgbClr val="5B5B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02920" y="6035040"/>
            <a:ext cx="11201400" cy="31750"/>
          </a:xfrm>
          <a:prstGeom prst="rect">
            <a:avLst/>
          </a:prstGeom>
          <a:solidFill>
            <a:srgbClr val="E8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163056"/>
            <a:ext cx="112014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5B5B66"/>
                </a:solidFill>
                <a:latin typeface="Calibri"/>
              </a:rPr>
              <a:t>HOW TO READ  ·  rounded = start / end   ·   blue = system step   ·   amber hexagon = decision   ·   (DSn) = data store read or written</a:t>
            </a:r>
          </a:p>
          <a:p>
            <a:pPr algn="l"/>
            <a:r>
              <a:rPr sz="1050" b="0" i="0">
                <a:solidFill>
                  <a:srgbClr val="1B1B1F"/>
                </a:solidFill>
                <a:latin typeface="Calibri"/>
              </a:rPr>
              <a:t>The administrator's tutor-registration review subprocess. A tutor application creates a PENDING account (DS1) that cannot sign in; the admin approves it to ACTIVE or declines it to DECLINED with a reason. Every decision is written to the Audit Log (DS11). Approval also emits a notification (DS10); a decline instead surfaces its reason on the /account-declined screen, so no notification is sent.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